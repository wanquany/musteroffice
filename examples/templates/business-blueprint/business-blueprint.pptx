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1040c847c941fc" /><Relationship Type="http://schemas.openxmlformats.org/officeDocument/2006/relationships/extended-properties" Target="/docProps/app.xml" Id="R43458857b2754d52" /><Relationship Type="http://schemas.openxmlformats.org/officeDocument/2006/relationships/officeDocument" Target="/ppt/presentation.xml" Id="R2ea902569d6942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77c35922c24d13"/>
  </p:sldMasterIdLst>
  <p:notesMasterIdLst>
    <p:notesMasterId xmlns:r="http://schemas.openxmlformats.org/officeDocument/2006/relationships" r:id="Reeca4d6e992b4e26"/>
  </p:notesMasterIdLst>
  <p:sldIdLst>
    <p:sldId xmlns:r="http://schemas.openxmlformats.org/officeDocument/2006/relationships" id="256" r:id="R08f3f299e2f546bc"/>
    <p:sldId xmlns:r="http://schemas.openxmlformats.org/officeDocument/2006/relationships" id="257" r:id="Rff6cc6096f404314"/>
    <p:sldId xmlns:r="http://schemas.openxmlformats.org/officeDocument/2006/relationships" id="258" r:id="R22170da7092044b8"/>
    <p:sldId xmlns:r="http://schemas.openxmlformats.org/officeDocument/2006/relationships" id="259" r:id="R72440a14911945cd"/>
    <p:sldId xmlns:r="http://schemas.openxmlformats.org/officeDocument/2006/relationships" id="260" r:id="R13cab6da6ea241fe"/>
    <p:sldId xmlns:r="http://schemas.openxmlformats.org/officeDocument/2006/relationships" id="261" r:id="R4a24d94e8dd74c0e"/>
    <p:sldId xmlns:r="http://schemas.openxmlformats.org/officeDocument/2006/relationships" id="262" r:id="Ra1ae74b25e494072"/>
    <p:sldId xmlns:r="http://schemas.openxmlformats.org/officeDocument/2006/relationships" id="263" r:id="Rd30b2654a39f47ce"/>
    <p:sldId xmlns:r="http://schemas.openxmlformats.org/officeDocument/2006/relationships" id="264" r:id="R88631534524b4f2d"/>
    <p:sldId xmlns:r="http://schemas.openxmlformats.org/officeDocument/2006/relationships" id="265" r:id="Rdaef75b5bf474bd7"/>
    <p:sldId xmlns:r="http://schemas.openxmlformats.org/officeDocument/2006/relationships" id="266" r:id="Rbf485a391137445d"/>
    <p:sldId xmlns:r="http://schemas.openxmlformats.org/officeDocument/2006/relationships" id="267" r:id="R84c59788623249a1"/>
    <p:sldId xmlns:r="http://schemas.openxmlformats.org/officeDocument/2006/relationships" id="268" r:id="Ra5575728481540b9"/>
    <p:sldId xmlns:r="http://schemas.openxmlformats.org/officeDocument/2006/relationships" id="269" r:id="R866946a530d646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a5be61ccdc4b37" /><Relationship Type="http://schemas.openxmlformats.org/officeDocument/2006/relationships/slideMaster" Target="/ppt/slideMasters/slideMaster1.xml" Id="Rf677c35922c24d13" /><Relationship Type="http://schemas.openxmlformats.org/officeDocument/2006/relationships/notesMaster" Target="/ppt/notesMasters/notesMaster1.xml" Id="Reeca4d6e992b4e26" /><Relationship Type="http://schemas.openxmlformats.org/officeDocument/2006/relationships/presProps" Target="/ppt/presProps.xml" Id="Re21671e7444949a7" /><Relationship Type="http://schemas.openxmlformats.org/officeDocument/2006/relationships/tableStyles" Target="/ppt/tableStyles.xml" Id="Rae023cb092784d99" /><Relationship Type="http://schemas.openxmlformats.org/officeDocument/2006/relationships/slide" Target="/ppt/slides/slide1.xml" Id="R08f3f299e2f546bc" /><Relationship Type="http://schemas.openxmlformats.org/officeDocument/2006/relationships/slide" Target="/ppt/slides/slide2.xml" Id="Rff6cc6096f404314" /><Relationship Type="http://schemas.openxmlformats.org/officeDocument/2006/relationships/slide" Target="/ppt/slides/slide3.xml" Id="R22170da7092044b8" /><Relationship Type="http://schemas.openxmlformats.org/officeDocument/2006/relationships/slide" Target="/ppt/slides/slide4.xml" Id="R72440a14911945cd" /><Relationship Type="http://schemas.openxmlformats.org/officeDocument/2006/relationships/slide" Target="/ppt/slides/slide5.xml" Id="R13cab6da6ea241fe" /><Relationship Type="http://schemas.openxmlformats.org/officeDocument/2006/relationships/slide" Target="/ppt/slides/slide6.xml" Id="R4a24d94e8dd74c0e" /><Relationship Type="http://schemas.openxmlformats.org/officeDocument/2006/relationships/slide" Target="/ppt/slides/slide7.xml" Id="Ra1ae74b25e494072" /><Relationship Type="http://schemas.openxmlformats.org/officeDocument/2006/relationships/slide" Target="/ppt/slides/slide8.xml" Id="Rd30b2654a39f47ce" /><Relationship Type="http://schemas.openxmlformats.org/officeDocument/2006/relationships/slide" Target="/ppt/slides/slide9.xml" Id="R88631534524b4f2d" /><Relationship Type="http://schemas.openxmlformats.org/officeDocument/2006/relationships/slide" Target="/ppt/slides/slide10.xml" Id="Rdaef75b5bf474bd7" /><Relationship Type="http://schemas.openxmlformats.org/officeDocument/2006/relationships/slide" Target="/ppt/slides/slide11.xml" Id="Rbf485a391137445d" /><Relationship Type="http://schemas.openxmlformats.org/officeDocument/2006/relationships/slide" Target="/ppt/slides/slide12.xml" Id="R84c59788623249a1" /><Relationship Type="http://schemas.openxmlformats.org/officeDocument/2006/relationships/slide" Target="/ppt/slides/slide13.xml" Id="Ra5575728481540b9" /><Relationship Type="http://schemas.openxmlformats.org/officeDocument/2006/relationships/slide" Target="/ppt/slides/slide14.xml" Id="R866946a530d646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4ac88a49df4b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 Sans S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d62a036619490d" /><Relationship Type="http://schemas.openxmlformats.org/officeDocument/2006/relationships/notesMaster" Target="/ppt/notesMasters/notesMaster1.xml" Id="Rc9ec6f86404b4d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f1939ccf5c4dc3" /><Relationship Type="http://schemas.openxmlformats.org/officeDocument/2006/relationships/notesMaster" Target="/ppt/notesMasters/notesMaster1.xml" Id="Rf75c5991a4bc49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7f4ad0086e4ad4" /><Relationship Type="http://schemas.openxmlformats.org/officeDocument/2006/relationships/notesMaster" Target="/ppt/notesMasters/notesMaster1.xml" Id="Raf9a2a6e874147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b042d6e0754973" /><Relationship Type="http://schemas.openxmlformats.org/officeDocument/2006/relationships/notesMaster" Target="/ppt/notesMasters/notesMaster1.xml" Id="Raefb0b47b43a45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53a5a58fd24910" /><Relationship Type="http://schemas.openxmlformats.org/officeDocument/2006/relationships/notesMaster" Target="/ppt/notesMasters/notesMaster1.xml" Id="Rf3f571ba70f249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d98b9aa40c4b88" /><Relationship Type="http://schemas.openxmlformats.org/officeDocument/2006/relationships/notesMaster" Target="/ppt/notesMasters/notesMaster1.xml" Id="R0d054f788a6340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ff7fd570e34bad" /><Relationship Type="http://schemas.openxmlformats.org/officeDocument/2006/relationships/notesMaster" Target="/ppt/notesMasters/notesMaster1.xml" Id="Red39731ee0d948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4ec4aeb4a443a2" /><Relationship Type="http://schemas.openxmlformats.org/officeDocument/2006/relationships/notesMaster" Target="/ppt/notesMasters/notesMaster1.xml" Id="R5b34d86106b84d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2209775e6e4d99" /><Relationship Type="http://schemas.openxmlformats.org/officeDocument/2006/relationships/notesMaster" Target="/ppt/notesMasters/notesMaster1.xml" Id="R26cf1e9b0bd84e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e8c9e9e2134b67" /><Relationship Type="http://schemas.openxmlformats.org/officeDocument/2006/relationships/notesMaster" Target="/ppt/notesMasters/notesMaster1.xml" Id="Re43172518b3f42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66776b59d84aa0" /><Relationship Type="http://schemas.openxmlformats.org/officeDocument/2006/relationships/notesMaster" Target="/ppt/notesMasters/notesMaster1.xml" Id="Rc67cc1f700a748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3bdaf3d21a4bf1" /><Relationship Type="http://schemas.openxmlformats.org/officeDocument/2006/relationships/notesMaster" Target="/ppt/notesMasters/notesMaster1.xml" Id="Reac86609b6b349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7fd247a25348fa" /><Relationship Type="http://schemas.openxmlformats.org/officeDocument/2006/relationships/notesMaster" Target="/ppt/notesMasters/notesMaster1.xml" Id="Rec8dbfbef33b45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d071c6538046a5" /><Relationship Type="http://schemas.openxmlformats.org/officeDocument/2006/relationships/notesMaster" Target="/ppt/notesMasters/notesMaster1.xml" Id="Re6f5d534791c49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  <a:p xmlns:a="http://schemas.openxmlformats.org/drawingml/2006/main">
            <a:r>
              <a:t>毛利=收入-成本。经营利润为简化示例，不含研发单列、其他损益及税项。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所有数字、企业及案例均为虚构示例；配图为 AI 生成的场景示意，不代表真实地点或事件。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0617a8725b48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a1f1f7aead42fb" /><Relationship Type="http://schemas.openxmlformats.org/officeDocument/2006/relationships/slideLayout" Target="/ppt/slideLayouts/slideLayout1.xml" Id="R44e1de8adafe40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e1de8adafe40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 Sans S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1ce2be24e4fc8" /><Relationship Type="http://schemas.openxmlformats.org/officeDocument/2006/relationships/image" Target="/ppt/media/image.png" Id="Rc9267b470b16409a" /><Relationship Type="http://schemas.openxmlformats.org/officeDocument/2006/relationships/notesSlide" Target="/ppt/notesSlides/notesSlide1.xml" Id="R402bffcdc0414b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a06103b454012" /><Relationship Type="http://schemas.openxmlformats.org/officeDocument/2006/relationships/notesSlide" Target="/ppt/notesSlides/notesSlide2.xml" Id="Rb70ebe91794b48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5c005841b474c" /><Relationship Type="http://schemas.openxmlformats.org/officeDocument/2006/relationships/chart" Target="/ppt/slides/charts/chart1.xml" Id="Rd7620d5640fa4d19" /><Relationship Type="http://schemas.openxmlformats.org/officeDocument/2006/relationships/notesSlide" Target="/ppt/notesSlides/notesSlide3.xml" Id="Ra208555dd28648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9065f8c0c4757" /><Relationship Type="http://schemas.openxmlformats.org/officeDocument/2006/relationships/chart" Target="/ppt/slides/charts/chart2.xml" Id="R767159a5f84b450b" /><Relationship Type="http://schemas.openxmlformats.org/officeDocument/2006/relationships/notesSlide" Target="/ppt/notesSlides/notesSlide4.xml" Id="Rc80a0626fe8546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999a2ff82430a" /><Relationship Type="http://schemas.openxmlformats.org/officeDocument/2006/relationships/chart" Target="/ppt/slides/charts/chart3.xml" Id="R598a1280601e4c9e" /><Relationship Type="http://schemas.openxmlformats.org/officeDocument/2006/relationships/notesSlide" Target="/ppt/notesSlides/notesSlide5.xml" Id="R406b7cdc901c4e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480cc224d404a" /><Relationship Type="http://schemas.openxmlformats.org/officeDocument/2006/relationships/notesSlide" Target="/ppt/notesSlides/notesSlide6.xml" Id="R3beebc2c66d641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c170de4904418" /><Relationship Type="http://schemas.openxmlformats.org/officeDocument/2006/relationships/chart" Target="/ppt/slides/charts/chart4.xml" Id="R5611475a68f24f21" /><Relationship Type="http://schemas.openxmlformats.org/officeDocument/2006/relationships/notesSlide" Target="/ppt/notesSlides/notesSlide7.xml" Id="R9467f4d258a243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903b2c7dd4280" /><Relationship Type="http://schemas.openxmlformats.org/officeDocument/2006/relationships/notesSlide" Target="/ppt/notesSlides/notesSlide8.xml" Id="R2c4c08b8bd7441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e7609ae1d4915" /><Relationship Type="http://schemas.openxmlformats.org/officeDocument/2006/relationships/notesSlide" Target="/ppt/notesSlides/notesSlide9.xml" Id="Rf61ac0d45a774d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f1724f37643fe" /><Relationship Type="http://schemas.openxmlformats.org/officeDocument/2006/relationships/chart" Target="/ppt/slides/charts/chart5.xml" Id="R18824c84a92e40f5" /><Relationship Type="http://schemas.openxmlformats.org/officeDocument/2006/relationships/notesSlide" Target="/ppt/notesSlides/notesSlide10.xml" Id="Rf6f22bac60e245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c2bc44c20473b" /><Relationship Type="http://schemas.openxmlformats.org/officeDocument/2006/relationships/notesSlide" Target="/ppt/notesSlides/notesSlide11.xml" Id="Rcdc349f8d1ff45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fe4ca965f4bc1" /><Relationship Type="http://schemas.openxmlformats.org/officeDocument/2006/relationships/image" Target="/ppt/media/image2.png" Id="Rdf0d5f42287f4234" /><Relationship Type="http://schemas.openxmlformats.org/officeDocument/2006/relationships/notesSlide" Target="/ppt/notesSlides/notesSlide12.xml" Id="Re77dfe70d17549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3bbbc89304060" /><Relationship Type="http://schemas.openxmlformats.org/officeDocument/2006/relationships/notesSlide" Target="/ppt/notesSlides/notesSlide13.xml" Id="R759cf88b528546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91128c8564e3c" /><Relationship Type="http://schemas.openxmlformats.org/officeDocument/2006/relationships/notesSlide" Target="/ppt/notesSlides/notesSlide14.xml" Id="R32c06b92ea1643c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计划</c:v>
          </c:tx>
          <c:spPr>
            <a:solidFill xmlns:a="http://schemas.openxmlformats.org/drawingml/2006/main">
              <a:srgbClr val="C3D4EB"/>
            </a:solidFill>
          </c:spPr>
          <c:cat>
            <c:strRef>
              <c:f>'Chart Data'!$A$2:$A$5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25</c:v>
                </c:pt>
                <c:pt idx="1">
                  <c:v>29</c:v>
                </c:pt>
                <c:pt idx="2">
                  <c:v>32</c:v>
                </c:pt>
                <c:pt idx="3">
                  <c:v>36</c:v>
                </c:pt>
              </c:numCache>
            </c:numRef>
          </c:val>
        </c:ser>
        <c:ser>
          <c:idx val="1"/>
          <c:order val="1"/>
          <c:tx>
            <c:v>实际</c:v>
          </c:tx>
          <c:spPr>
            <a:solidFill xmlns:a="http://schemas.openxmlformats.org/drawingml/2006/main">
              <a:srgbClr val="2762C5"/>
            </a:solidFill>
          </c:spPr>
          <c:cat>
            <c:strRef>
              <c:f>'Chart Data'!$C$2:$C$5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24</c:v>
                </c:pt>
                <c:pt idx="1">
                  <c:v>29</c:v>
                </c:pt>
                <c:pt idx="2">
                  <c:v>35</c:v>
                </c:pt>
                <c:pt idx="3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52C46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F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6DF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365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收入</c:v>
          </c:tx>
          <c:dPt>
            <c:idx val="0"/>
            <c:spPr>
              <a:solidFill xmlns:a="http://schemas.openxmlformats.org/drawingml/2006/main">
                <a:srgbClr val="2762C5"/>
              </a:solidFill>
            </c:spPr>
          </c:dPt>
          <c:dPt>
            <c:idx val="1"/>
            <c:spPr>
              <a:solidFill xmlns:a="http://schemas.openxmlformats.org/drawingml/2006/main">
                <a:srgbClr val="319A9B"/>
              </a:solidFill>
            </c:spPr>
          </c:dPt>
          <c:dPt>
            <c:idx val="2"/>
            <c:spPr>
              <a:solidFill xmlns:a="http://schemas.openxmlformats.org/drawingml/2006/main">
                <a:srgbClr val="B5C7D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核心产品</c:v>
                </c:pt>
                <c:pt idx="1">
                  <c:v>专业服务</c:v>
                </c:pt>
                <c:pt idx="2">
                  <c:v>新业务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72</c:v>
                </c:pt>
                <c:pt idx="1">
                  <c:v>36</c:v>
                </c:pt>
                <c:pt idx="2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52C46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7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365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上年</c:v>
          </c:tx>
          <c:spPr>
            <a:solidFill xmlns:a="http://schemas.openxmlformats.org/drawingml/2006/main">
              <a:srgbClr val="C3D4EB"/>
            </a:solidFill>
          </c:spPr>
          <c:cat>
            <c:strRef>
              <c:f>'Chart Data'!$A$2:$A$5</c:f>
              <c:strCache>
                <c:ptCount val="4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西部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36</c:v>
                </c:pt>
                <c:pt idx="1">
                  <c:v>28</c:v>
                </c:pt>
                <c:pt idx="2">
                  <c:v>26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v>本年</c:v>
          </c:tx>
          <c:spPr>
            <a:solidFill xmlns:a="http://schemas.openxmlformats.org/drawingml/2006/main">
              <a:srgbClr val="2762C5"/>
            </a:solidFill>
          </c:spPr>
          <c:cat>
            <c:strRef>
              <c:f>'Chart Data'!$C$2:$C$5</c:f>
              <c:strCache>
                <c:ptCount val="4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西部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46</c:v>
                </c:pt>
                <c:pt idx="1">
                  <c:v>34</c:v>
                </c:pt>
                <c:pt idx="2">
                  <c:v>28</c:v>
                </c:pt>
                <c:pt idx="3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52C46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DF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6DF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365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商机数量</c:v>
          </c:tx>
          <c:spPr>
            <a:solidFill xmlns:a="http://schemas.openxmlformats.org/drawingml/2006/main">
              <a:srgbClr val="2762C5"/>
            </a:solidFill>
          </c:spPr>
          <c:cat>
            <c:strRef>
              <c:f>'Chart Data'!$A$2:$A$5</c:f>
              <c:strCache>
                <c:ptCount val="4"/>
                <c:pt idx="0">
                  <c:v>有效线索</c:v>
                </c:pt>
                <c:pt idx="1">
                  <c:v>需求确认</c:v>
                </c:pt>
                <c:pt idx="2">
                  <c:v>方案评估</c:v>
                </c:pt>
                <c:pt idx="3">
                  <c:v>签约客户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800</c:v>
                </c:pt>
                <c:pt idx="1">
                  <c:v>480</c:v>
                </c:pt>
                <c:pt idx="2">
                  <c:v>240</c:v>
                </c:pt>
                <c:pt idx="3">
                  <c:v>120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52C46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ax val="10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DF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6DF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预算</c:v>
          </c:tx>
          <c:dPt>
            <c:idx val="0"/>
            <c:spPr>
              <a:solidFill xmlns:a="http://schemas.openxmlformats.org/drawingml/2006/main">
                <a:srgbClr val="2762C5"/>
              </a:solidFill>
            </c:spPr>
          </c:dPt>
          <c:dPt>
            <c:idx val="1"/>
            <c:spPr>
              <a:solidFill xmlns:a="http://schemas.openxmlformats.org/drawingml/2006/main">
                <a:srgbClr val="319A9B"/>
              </a:solidFill>
            </c:spPr>
          </c:dPt>
          <c:dPt>
            <c:idx val="2"/>
            <c:spPr>
              <a:solidFill xmlns:a="http://schemas.openxmlformats.org/drawingml/2006/main">
                <a:srgbClr val="7CA1CD"/>
              </a:solidFill>
            </c:spPr>
          </c:dPt>
          <c:dPt>
            <c:idx val="3"/>
            <c:spPr>
              <a:solidFill xmlns:a="http://schemas.openxmlformats.org/drawingml/2006/main">
                <a:srgbClr val="D2DFEB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客户增长</c:v>
                </c:pt>
                <c:pt idx="1">
                  <c:v>交付改善</c:v>
                </c:pt>
                <c:pt idx="2">
                  <c:v>数据能力</c:v>
                </c:pt>
                <c:pt idx="3">
                  <c:v>风险准备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320</c:v>
                </c:pt>
                <c:pt idx="1">
                  <c:v>240</c:v>
                </c:pt>
                <c:pt idx="2">
                  <c:v>160</c:v>
                </c:pt>
                <c:pt idx="3">
                  <c:v>80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52C46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270"/>
        <c:holeSize val="67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3657A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C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67b470b16409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0A9EF-E589-4FB5-944D-437DFBF2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D3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9D3FF"/>
                </a:solidFill>
                <a:latin typeface="Noto Sans SC"/>
                <a:ea typeface="Noto Sans SC"/>
                <a:cs typeface="Noto Sans SC"/>
              </a:rPr>
              <a:t>蓝图  /  BUSINESS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AFFEC-2B54-4E5C-951A-7EB69C4D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239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年度经营复盘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与增长计划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ECB9F-EEA5-4CEE-9692-082DF78F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FE9F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DFE9F5"/>
                </a:solidFill>
                <a:latin typeface="Noto Sans SC"/>
                <a:ea typeface="Noto Sans SC"/>
                <a:cs typeface="Noto Sans SC"/>
              </a:rPr>
              <a:t>经营管理委员会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1D1CB-2087-4585-8264-64ECA219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D3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9D3FF"/>
                </a:solidFill>
                <a:latin typeface="Noto Sans SC"/>
                <a:ea typeface="Noto Sans SC"/>
                <a:cs typeface="Noto Sans SC"/>
              </a:rPr>
              <a:t>战略与运营团队  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2FB44-CB70-4BB7-AF26-1C6AC399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工作汇报模板 · 全篇为示例资料</a:t>
            </a:r>
          </a:p>
        </p:txBody>
      </p:sp>
    </p:spTree>
    <p:extLst>
      <p:ext uri="{BB962C8B-B14F-4D97-AF65-F5344CB8AC3E}">
        <p14:creationId xmlns:p14="http://schemas.microsoft.com/office/powerpoint/2010/main" val="20785904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8B6E2-6763-4804-9461-78F7CA37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4E77E-8840-44FB-AAA3-AE3D785E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9FDB7-8C36-461F-99CB-711A5352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C09EC-48A6-439A-8D63-31003BE2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885D1-AB94-4BFF-B78C-1FE1D1C4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收入增长的同时，交付效率持续改善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85405-62C5-4AD5-B0AC-87D1905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本年度工作重点：客户价值、交付质量与现金回收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F2FE2-ACB7-4528-A8B0-814F0C48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450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1.28 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B11C9-08E9-4374-A1DB-E2673FA1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3295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年度营业收入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4D065-AB5F-4F9B-A8DE-4D823D3B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较上年增长 18.5%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1C174-CC35-4EDE-BDFC-F975B60E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574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450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32.4%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DEEF7-7F4A-476F-B5FF-DE92A04B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14675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综合毛利率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02AB1-78E2-422B-95BC-6E0BD4EF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81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较上年提升 2.6 个百分点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9579F-CF2B-46DE-82E3-9232CF64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57425"/>
            <a:ext cx="327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450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94.2%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2BB0A-48BB-4FB4-9186-A499E721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14675"/>
            <a:ext cx="3276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项目准时交付率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0805F-B07F-4EA7-9F1D-F0B867D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较上年提升 5.1 个百分点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57F8C-39F7-4E0D-8330-8F055D04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6A559-34A7-4920-8649-03CDA044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88B0B-54FB-42C6-9206-E3AD40F0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720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增长来自核心客户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481A6-261E-447F-ABCF-E05EB4DA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7685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核心客户贡献 68% 的新增收入。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C3BEB-6948-4BA9-A923-B2908B2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720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A44E1-801C-4994-91E6-5A6ECECA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72025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下一步改善回款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58A9B-CE0B-487F-8A8D-AD999AED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76850"/>
            <a:ext cx="4324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重点跟进长账期项目，降低资金占用。</a:t>
            </a:r>
          </a:p>
        </p:txBody>
      </p:sp>
    </p:spTree>
    <p:extLst>
      <p:ext uri="{BB962C8B-B14F-4D97-AF65-F5344CB8AC3E}">
        <p14:creationId xmlns:p14="http://schemas.microsoft.com/office/powerpoint/2010/main" val="769833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D0035-7A32-4B64-A3F2-48672E79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D93BD-5448-4484-A8AA-E35ED607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9725D-8CC6-4F5E-BB01-52622972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1BBE7-1E75-410D-BC97-5CFBFEFF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7D391-8CB2-45C2-AA5C-40EF7C6F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下半年收入提升，季度目标整体达成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B5A7D-F58A-4AA4-838D-B6F28985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营业收入，百万元；浅色为计划，深色为实际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7686675" cy="3752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620d5640fa4d1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87B63-5B0E-449B-BAC8-019CE5E4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90775"/>
            <a:ext cx="2667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405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104.9%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555EF-374E-43D5-BB89-79183C42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647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全年收入目标达成率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0BAC7-1DA9-46BD-A971-3843A8CB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6670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Q3 起新增客户项目交付，</a:t>
            </a:r>
          </a:p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叠加存量客户复购，</a:t>
            </a:r>
          </a:p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带动下半年增长。</a:t>
            </a:r>
          </a:p>
        </p:txBody>
      </p:sp>
    </p:spTree>
    <p:extLst>
      <p:ext uri="{BB962C8B-B14F-4D97-AF65-F5344CB8AC3E}">
        <p14:creationId xmlns:p14="http://schemas.microsoft.com/office/powerpoint/2010/main" val="303278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45CB2-7DC2-468A-839D-1993C9B9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7F50D-49C2-4817-90C6-6F9635A0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54F1B-9445-4242-8020-3971CA8A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44823-306F-4178-89EB-7CD0BB02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5376E-95F5-4ABB-AD5F-6B35A5A9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核心业务保持稳定，新业务形成补充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F2FD3-8CA6-4B1E-B0EC-0C5F24FB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以同一组数字展示结构占比与业务贡献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4667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7159a5f84b450b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5876925" y="2371725"/>
          <a:ext xmlns:a="http://schemas.openxmlformats.org/drawingml/2006/main" cx="5705475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3709"/>
                <a:gridCol w="1724911"/>
                <a:gridCol w="1326855"/>
              </a:tblGrid>
              <a:tr h="61341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业务板块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收入 / 百万元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占比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核心产品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72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56.3%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专业服务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36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28.1%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新业务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15.6%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合计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128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100.0%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682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82301-8F6A-4082-ABB1-301A05A3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EA662-AC18-402A-B182-2560FCCF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2AB58-4987-4FE0-A15D-BC5186BF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1A75A-DB43-4467-AA3A-BB7EB316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A280D-1BF0-487C-9F34-BEB6C932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华东与华南贡献主要增量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0AB99-AAA6-4368-A751-AAD21573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区域收入对比，百万元；统一横向刻度方便比较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7715250" cy="3743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8a1280601e4c9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57A6B-3BA5-405F-BB63-1B7CF24E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050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8E858-A4D4-4ABF-8344-6141EC46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05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华东：行业深耕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7DE3A-0958-4519-BC6D-A2085655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9875"/>
            <a:ext cx="2114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建立重点账户计划，</a:t>
            </a:r>
          </a:p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提高同一客户复购。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DC26D-E41C-43CD-9398-BD1B4325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9100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17695-9FB0-45E0-B90B-4324A7BE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910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华南：伙伴覆盖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78C8A-BA3B-4536-B158-30373836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95825"/>
            <a:ext cx="2114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优先复制已验证的</a:t>
            </a:r>
          </a:p>
          <a:p xmlns:a="http://schemas.openxmlformats.org/drawingml/2006/main">
            <a:pPr algn="l">
              <a:def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渠道合作方法。</a:t>
            </a:r>
          </a:p>
        </p:txBody>
      </p:sp>
    </p:spTree>
    <p:extLst>
      <p:ext uri="{BB962C8B-B14F-4D97-AF65-F5344CB8AC3E}">
        <p14:creationId xmlns:p14="http://schemas.microsoft.com/office/powerpoint/2010/main" val="1364666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D30BE-BB06-4208-856A-ECBD5F93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9C50C-BA53-4C6F-BEA9-4C7C09F3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29908-A857-42FC-A01A-76B2C85E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25DAB-7A81-46DC-AFAD-5C4F2BA2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05EE6-299B-4FFE-9298-DB7458B6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费用投入与收入增长保持匹配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BB6BA-F18B-4146-9C35-22BE629B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经营损益摘录，百万元；财务口径以年度结账结果为准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55127"/>
                <a:gridCol w="1995055"/>
                <a:gridCol w="1995055"/>
                <a:gridCol w="2327564"/>
              </a:tblGrid>
              <a:tr h="584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指标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上年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本年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变化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营业收入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108.0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128.0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+18.5%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营业成本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75.8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86.5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+14.1%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毛利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32.2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41.5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+28.9%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销售与管理费用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21.0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25.0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+19.0%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经营利润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11.2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16.5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+47.3%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586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A94A1-D271-44FB-83D3-F0E153FD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B4A1D-9DF7-4C88-BFC0-C3F96BA6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FE907-D974-4605-8EA5-EC4BABD4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26648-45B0-4DC1-A9A4-8B0E94F7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F1359-59FF-4F79-B1E6-85FE547C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从有效线索到成交，明确各阶段改善空间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735A6-F2D4-4F6C-B056-A0D6502C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年度商机转化，数量为个；阶段转化率以相邻阶段计算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7239000" cy="3467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11475a68f24f2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99D1E-2F02-462A-89F3-16C0A8B6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38400"/>
            <a:ext cx="274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4275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A2FD3-43D6-40DF-B84D-5BCEEF41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76600"/>
            <a:ext cx="29146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方案评估至签约转化率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15645-F4E0-4A77-8536-1C5B9AC4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76725"/>
            <a:ext cx="29718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下一步：统一方案评审标准，</a:t>
            </a:r>
          </a:p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在报价前核实预算、</a:t>
            </a:r>
          </a:p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采购节奏与决策参与者。</a:t>
            </a:r>
          </a:p>
        </p:txBody>
      </p:sp>
    </p:spTree>
    <p:extLst>
      <p:ext uri="{BB962C8B-B14F-4D97-AF65-F5344CB8AC3E}">
        <p14:creationId xmlns:p14="http://schemas.microsoft.com/office/powerpoint/2010/main" val="785969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2C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A40F2-8769-4FFD-9927-83ABCF11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B2BEC-C2D1-46F6-B0A4-B6BF7D0A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31765-1017-4782-A19C-40548B19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1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C054F-F2E8-4661-AE4C-8B3E0674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32589-E6EF-40AE-9E5F-EC98FC2A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下一年度的经营重点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4716A-8707-4753-AED9-776A4CFB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将年度目标落实到负责人、交付物和检查节点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30E94-DC6E-4ED2-AFF8-8FDF7F0F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8AE7F-7298-4DDF-B16F-4FA24550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76475"/>
            <a:ext cx="992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拓展重点行业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BA7A1-E712-40A1-A116-45230F03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建立行业解决方案清单。</a:t>
            </a:r>
          </a:p>
          <a:p xmlns:a="http://schemas.openxmlformats.org/drawingml/2006/main">
            <a:pPr algn="l">
              <a:def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由销售与产品团队共同复盘首批项目。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1E911-42FD-41BD-B1EC-6F1856AD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6C8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650C7-69FF-4698-AB2F-2125052E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516A1-B9B5-475B-A2B1-4B946466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38575"/>
            <a:ext cx="992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缩短交付周期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54AA8-BD17-4F11-91EF-67819E2C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沉淀标准实施包与验收清单。</a:t>
            </a:r>
          </a:p>
          <a:p xmlns:a="http://schemas.openxmlformats.org/drawingml/2006/main">
            <a:pPr algn="l">
              <a:def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将项目复盘形成的改进纳入交付流程。</a:t>
            </a:r>
          </a:p>
        </p:txBody>
      </p:sp>
    </p:spTree>
    <p:extLst>
      <p:ext uri="{BB962C8B-B14F-4D97-AF65-F5344CB8AC3E}">
        <p14:creationId xmlns:p14="http://schemas.microsoft.com/office/powerpoint/2010/main" val="158446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37E6C-DA4C-49B9-85A8-5513B53E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D4375-8BBB-4B58-A1A1-046C64B2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0E9A6-7B10-4807-9B4F-BD4442B0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FD9F3-7BB3-417F-918B-16120D05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A8D2E-B3E8-4FF6-8A9F-E2D6BD1F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重点项目按季度推进，关键节点单独验收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33B74-70B3-4C09-9768-E8F4CBF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每季列出关键交付物；负责人对阶段产出负责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109728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47605"/>
                <a:gridCol w="1781299"/>
                <a:gridCol w="1781299"/>
                <a:gridCol w="1781299"/>
                <a:gridCol w="1781299"/>
              </a:tblGrid>
              <a:tr h="64579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重点项目 / 负责人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Q1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Q2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Q3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Q4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行业方案 / 产品部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需求定义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试点验证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方案发布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推广复盘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交付标准化 / 运营部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流程梳理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工具上线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全面应用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效率验收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客户成功 / 客服部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账户分层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方案执行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续约复盘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年度评估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数据治理 / 技术部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口径统一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数据接入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质量治理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审计验收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E4D8F-B283-47C8-96BC-89058DCD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月度检查进度与依赖，季度评审业务结果。</a:t>
            </a:r>
          </a:p>
        </p:txBody>
      </p:sp>
    </p:spTree>
    <p:extLst>
      <p:ext uri="{BB962C8B-B14F-4D97-AF65-F5344CB8AC3E}">
        <p14:creationId xmlns:p14="http://schemas.microsoft.com/office/powerpoint/2010/main" val="16572732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7F1AD-FD53-4AB0-B4FA-06621C5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D9DC1-C397-4B58-A946-071DC3A4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97B1F-B8C7-44BE-8A11-7A1F3974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323E4-2DA4-44AA-962E-D99A69B8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18FBB-F8F8-4848-A89E-CBB62F86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预算优先支持客户增长和交付改善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05B58-3B9F-48B8-ADA5-54C4A208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新增专项预算 800 万元；此处不包含日常经营费用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4953000" cy="3514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824c84a92e40f5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5943600" y="2324100"/>
          <a:ext xmlns:a="http://schemas.openxmlformats.org/drawingml/2006/main" cx="5638800" cy="3152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8471"/>
                <a:gridCol w="1658471"/>
                <a:gridCol w="2321859"/>
              </a:tblGrid>
              <a:tr h="63055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投入方向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预算 / 万元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验收依据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客户增长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320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行业试点与新增收入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交付改善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240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工期与准时交付率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数据能力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160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统一报表与数据质量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3055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风险准备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80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经审批使用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0646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C98A2-FEE5-4B1A-8539-ADBE25B0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57F28-C4C3-4A1C-AD8A-49EDF2F8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71A28-AB42-4177-B46C-EF44C694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C9F7B-F87B-43C2-B5F4-E7FBEFC8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044F7-9E7A-49F2-8504-0E345979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提前约定风险信号与处理责任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F6086-DE19-4CB9-ABEF-B0D0C9F1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每项风险同时记录触发条件、行动与负责人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324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4737"/>
                <a:gridCol w="3537284"/>
                <a:gridCol w="4042611"/>
                <a:gridCol w="1588168"/>
              </a:tblGrid>
              <a:tr h="66484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风险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预警信号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应对措施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责任部门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客户集中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前三大客户占比超过 45%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拓展行业与客户组合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销售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交付延期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关键里程碑落后 2 周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调整资源并重排依赖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运营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回款滞后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应收账款超过合同账期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分级催收与授信复核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财务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关键岗位缺口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核心岗位空缺超过 30 天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培养备岗与阶段支持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人力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6994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D0D90-F030-4830-ABBE-213A5A4E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FA081-34AB-4C12-8892-9BEDDB94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7B1F0-6245-4318-95FA-31258CD9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2B16D-7911-475C-9917-D7F5A6AD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46FD9-5B35-4914-840C-126D1467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智能质检试点：先验证，再复制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DA443-6E72-4583-9C17-C8DDC99C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示例项目复盘；场景配图为 AI 生成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d5f42287f4234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238375"/>
            <a:ext cx="6191250" cy="3476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32694-3FCE-4C27-B00C-5247769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86000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华东工厂试点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136FC-FADD-4BA6-9A52-03553AB1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037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20922-3859-4D27-BA95-73AC69D3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62325"/>
            <a:ext cx="4076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减少重复检测工作，</a:t>
            </a:r>
          </a:p>
          <a:p xmlns:a="http://schemas.openxmlformats.org/drawingml/2006/main">
            <a:pPr algn="l">
              <a:defRPr sz="1875" b="0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提高问题发现的一致性。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1282E-4D42-47BB-A604-0593E548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339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762C5"/>
                </a:solidFill>
                <a:latin typeface="Noto Sans SC"/>
                <a:ea typeface="Noto Sans SC"/>
                <a:cs typeface="Noto Sans SC"/>
              </a:rPr>
              <a:t>落地条件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6CC73-7E7D-45F0-947B-DF008748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5850"/>
            <a:ext cx="4076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明确缺陷样本与验收口径，</a:t>
            </a:r>
          </a:p>
          <a:p xmlns:a="http://schemas.openxmlformats.org/drawingml/2006/main">
            <a:pPr algn="l">
              <a:defRPr sz="1800" b="0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为现场团队保留复核机制。</a:t>
            </a:r>
          </a:p>
        </p:txBody>
      </p:sp>
    </p:spTree>
    <p:extLst>
      <p:ext uri="{BB962C8B-B14F-4D97-AF65-F5344CB8AC3E}">
        <p14:creationId xmlns:p14="http://schemas.microsoft.com/office/powerpoint/2010/main" val="1605420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2C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5C88F-E364-4C28-B448-4EFD3D1E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F0EDC-0716-49FD-9A8A-5AE0C76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64B75-2ACD-4655-B078-32510913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1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ABDEC-0E73-4593-86D5-43B73ECD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C9D6E4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B590E-93C3-4938-BF1F-74B10DE6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本次会议需要确认的事项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3DFB2-02F0-46E1-B45D-C0982D82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形成决议后，由项目负责人更新计划并同步相关团队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3CED2-1286-4CD4-A5F8-48EBA137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23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A9D3FF"/>
                </a:solidFill>
                <a:latin typeface="Noto Sans SC"/>
                <a:ea typeface="Noto Sans SC"/>
                <a:cs typeface="Noto Sans SC"/>
              </a:defRPr>
            </a:pPr>
            <a:r>
              <a:rPr sz="5025" b="1">
                <a:solidFill>
                  <a:srgbClr val="A9D3FF"/>
                </a:solidFill>
                <a:latin typeface="Noto Sans SC"/>
                <a:ea typeface="Noto Sans SC"/>
                <a:cs typeface="Noto Sans SC"/>
              </a:rPr>
              <a:t>800 万元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438CE-DF90-4A0C-9833-B4DB4DAC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766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新增专项预算申请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73665-CF6F-46D7-88B2-B3324EE5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按季度释放预算，</a:t>
            </a:r>
          </a:p>
          <a:p xmlns:a="http://schemas.openxmlformats.org/drawingml/2006/main">
            <a:pPr algn="l">
              <a:defRPr sz="1950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与阶段验收和资源复核挂钩。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2ECDD-5A12-4E9D-BD5F-5C1DE67E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71725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B04EA-3724-4865-AF24-838048EB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71725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确认投入范围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2B352-9DB3-4414-841F-D1476311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76550"/>
            <a:ext cx="4133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批准优先项目及预算边界。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97977-F6B7-4927-A8E9-01B94D6D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48150"/>
            <a:ext cx="62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9FC9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C22C7-ACD6-4F6B-8769-4664145C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48150"/>
            <a:ext cx="413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确认下一次评审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AFE8E-6F92-4B30-B160-5DB7A01C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52975"/>
            <a:ext cx="4133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D3DFEB"/>
                </a:solidFill>
                <a:latin typeface="Noto Sans SC"/>
                <a:ea typeface="Noto Sans SC"/>
                <a:cs typeface="Noto Sans SC"/>
              </a:rPr>
              <a:t>由运营团队组织季度成果复盘。</a:t>
            </a:r>
          </a:p>
        </p:txBody>
      </p:sp>
    </p:spTree>
    <p:extLst>
      <p:ext uri="{BB962C8B-B14F-4D97-AF65-F5344CB8AC3E}">
        <p14:creationId xmlns:p14="http://schemas.microsoft.com/office/powerpoint/2010/main" val="1192617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5592B-7BEC-4B01-A98E-20F8AA20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蓝图 · 商务汇报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F21AF-E9F4-48C3-9D72-7C9C3A68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88F09-A33C-4579-91E3-0FB6B867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7C3D8-AF7B-4FBC-9377-9466CEBA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762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示例内容与数据 · 使用前替换为实际资料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87CC9-416D-44E6-AFA2-ECFC03F7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152C46"/>
                </a:solidFill>
                <a:latin typeface="Noto Sans SC"/>
                <a:ea typeface="Noto Sans SC"/>
                <a:cs typeface="Noto Sans SC"/>
              </a:rPr>
              <a:t>附录：指标定义与资料清单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D421C-99C5-4290-A31E-47BDC9DB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53657A"/>
                </a:solidFill>
                <a:latin typeface="Noto Sans SC"/>
                <a:ea typeface="Noto Sans SC"/>
                <a:cs typeface="Noto Sans SC"/>
              </a:rPr>
              <a:t>实际工作中保留原始数据、负责人和截至日期，保证汇报可追溯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495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08069"/>
                <a:gridCol w="4702629"/>
                <a:gridCol w="3762103"/>
              </a:tblGrid>
              <a:tr h="5826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指标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定义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资料来源 / 责任方</a:t>
                      </a:r>
                    </a:p>
                  </a:txBody>
                  <a:tcPr marL="142875" marR="142875" marT="95250" marB="95250" anchor="ctr">
                    <a:solidFill>
                      <a:srgbClr val="152C46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营业收入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按财务确认口径计算的期间收入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财务系统 / 财务部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综合毛利率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（收入 − 成本）÷ 收入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财务管理报表 / 财务部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准时交付率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按期完成项目数 ÷ 已完成项目数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项目台账 / 运营部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目标达成率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实际收入 ÷ 计划收入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年度预算 / 经营管理部</a:t>
                      </a:r>
                    </a:p>
                  </a:txBody>
                  <a:tcPr marL="142875" marR="142875" marT="95250" marB="95250" anchor="ctr">
                    <a:solidFill>
                      <a:srgbClr val="EAF0F8"/>
                    </a:solidFill>
                  </a:tcPr>
                </a:tc>
              </a:tr>
              <a:tr h="5826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商机转化率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进入下一阶段数量 ÷ 当前阶段数量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52C4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客户管理系统 / 销售部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665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Noto Sans S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2026-10-03T15:41:26.8350000Z</dcterms:created>
  <dcterms:modified xsi:type="dcterms:W3CDTF">2026-10-03T15:41:26.8350000Z</dcterms:modified>
</coreProperties>
</file>