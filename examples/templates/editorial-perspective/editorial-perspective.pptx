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dccc3eae5a4c14" /><Relationship Type="http://schemas.openxmlformats.org/officeDocument/2006/relationships/extended-properties" Target="/docProps/app.xml" Id="R736959462f284991" /><Relationship Type="http://schemas.openxmlformats.org/officeDocument/2006/relationships/officeDocument" Target="/ppt/presentation.xml" Id="R0d924e99b36242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da0d181be0444f"/>
  </p:sldMasterIdLst>
  <p:notesMasterIdLst>
    <p:notesMasterId xmlns:r="http://schemas.openxmlformats.org/officeDocument/2006/relationships" r:id="Re4ed1e66dfc2401a"/>
  </p:notesMasterIdLst>
  <p:sldIdLst>
    <p:sldId xmlns:r="http://schemas.openxmlformats.org/officeDocument/2006/relationships" id="256" r:id="R693e7204e63f479a"/>
    <p:sldId xmlns:r="http://schemas.openxmlformats.org/officeDocument/2006/relationships" id="257" r:id="R8c62ee4986134ede"/>
    <p:sldId xmlns:r="http://schemas.openxmlformats.org/officeDocument/2006/relationships" id="258" r:id="Rced494e9e3384fa5"/>
    <p:sldId xmlns:r="http://schemas.openxmlformats.org/officeDocument/2006/relationships" id="259" r:id="R096ba880ae054361"/>
    <p:sldId xmlns:r="http://schemas.openxmlformats.org/officeDocument/2006/relationships" id="260" r:id="R7e5dd3cfc2264e6a"/>
    <p:sldId xmlns:r="http://schemas.openxmlformats.org/officeDocument/2006/relationships" id="261" r:id="R94c0c19795ec42ff"/>
    <p:sldId xmlns:r="http://schemas.openxmlformats.org/officeDocument/2006/relationships" id="262" r:id="Ra4a81604705f4515"/>
    <p:sldId xmlns:r="http://schemas.openxmlformats.org/officeDocument/2006/relationships" id="263" r:id="R75e603fb185b4663"/>
    <p:sldId xmlns:r="http://schemas.openxmlformats.org/officeDocument/2006/relationships" id="264" r:id="R74ebd1573b5645f4"/>
    <p:sldId xmlns:r="http://schemas.openxmlformats.org/officeDocument/2006/relationships" id="265" r:id="Re2063c281d5c4bc8"/>
    <p:sldId xmlns:r="http://schemas.openxmlformats.org/officeDocument/2006/relationships" id="266" r:id="R1e1be9f43c2b44ff"/>
    <p:sldId xmlns:r="http://schemas.openxmlformats.org/officeDocument/2006/relationships" id="267" r:id="Rdfd42197b81a4106"/>
    <p:sldId xmlns:r="http://schemas.openxmlformats.org/officeDocument/2006/relationships" id="268" r:id="Re8ce98b191e84aad"/>
    <p:sldId xmlns:r="http://schemas.openxmlformats.org/officeDocument/2006/relationships" id="269" r:id="Rb44df7bcbb3c45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0d783eb4394470" /><Relationship Type="http://schemas.openxmlformats.org/officeDocument/2006/relationships/slideMaster" Target="/ppt/slideMasters/slideMaster1.xml" Id="Rf5da0d181be0444f" /><Relationship Type="http://schemas.openxmlformats.org/officeDocument/2006/relationships/notesMaster" Target="/ppt/notesMasters/notesMaster1.xml" Id="Re4ed1e66dfc2401a" /><Relationship Type="http://schemas.openxmlformats.org/officeDocument/2006/relationships/presProps" Target="/ppt/presProps.xml" Id="R8bdac87b1f274b4e" /><Relationship Type="http://schemas.openxmlformats.org/officeDocument/2006/relationships/tableStyles" Target="/ppt/tableStyles.xml" Id="R2b1a0465c1d048a2" /><Relationship Type="http://schemas.openxmlformats.org/officeDocument/2006/relationships/slide" Target="/ppt/slides/slide1.xml" Id="R693e7204e63f479a" /><Relationship Type="http://schemas.openxmlformats.org/officeDocument/2006/relationships/slide" Target="/ppt/slides/slide2.xml" Id="R8c62ee4986134ede" /><Relationship Type="http://schemas.openxmlformats.org/officeDocument/2006/relationships/slide" Target="/ppt/slides/slide3.xml" Id="Rced494e9e3384fa5" /><Relationship Type="http://schemas.openxmlformats.org/officeDocument/2006/relationships/slide" Target="/ppt/slides/slide4.xml" Id="R096ba880ae054361" /><Relationship Type="http://schemas.openxmlformats.org/officeDocument/2006/relationships/slide" Target="/ppt/slides/slide5.xml" Id="R7e5dd3cfc2264e6a" /><Relationship Type="http://schemas.openxmlformats.org/officeDocument/2006/relationships/slide" Target="/ppt/slides/slide6.xml" Id="R94c0c19795ec42ff" /><Relationship Type="http://schemas.openxmlformats.org/officeDocument/2006/relationships/slide" Target="/ppt/slides/slide7.xml" Id="Ra4a81604705f4515" /><Relationship Type="http://schemas.openxmlformats.org/officeDocument/2006/relationships/slide" Target="/ppt/slides/slide8.xml" Id="R75e603fb185b4663" /><Relationship Type="http://schemas.openxmlformats.org/officeDocument/2006/relationships/slide" Target="/ppt/slides/slide9.xml" Id="R74ebd1573b5645f4" /><Relationship Type="http://schemas.openxmlformats.org/officeDocument/2006/relationships/slide" Target="/ppt/slides/slide10.xml" Id="Re2063c281d5c4bc8" /><Relationship Type="http://schemas.openxmlformats.org/officeDocument/2006/relationships/slide" Target="/ppt/slides/slide11.xml" Id="R1e1be9f43c2b44ff" /><Relationship Type="http://schemas.openxmlformats.org/officeDocument/2006/relationships/slide" Target="/ppt/slides/slide12.xml" Id="Rdfd42197b81a4106" /><Relationship Type="http://schemas.openxmlformats.org/officeDocument/2006/relationships/slide" Target="/ppt/slides/slide13.xml" Id="Re8ce98b191e84aad" /><Relationship Type="http://schemas.openxmlformats.org/officeDocument/2006/relationships/slide" Target="/ppt/slides/slide14.xml" Id="Rb44df7bcbb3c45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56bafa89d64b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oto Sans SC">
      <a:majorFont>
        <a:latin typeface="Noto Sans SC"/>
        <a:ea typeface="Noto Sans SC"/>
        <a:cs typeface="Noto Sans SC"/>
      </a:majorFont>
      <a:minorFont>
        <a:latin typeface="Noto Sans SC"/>
        <a:ea typeface="Noto Sans SC"/>
        <a:cs typeface="Noto Sans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7a47032cf8480e" /><Relationship Type="http://schemas.openxmlformats.org/officeDocument/2006/relationships/notesMaster" Target="/ppt/notesMasters/notesMaster1.xml" Id="R5d52c44fa0d34e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20e811d5d6424b" /><Relationship Type="http://schemas.openxmlformats.org/officeDocument/2006/relationships/notesMaster" Target="/ppt/notesMasters/notesMaster1.xml" Id="R51513e2c85c149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d1d419922044f3" /><Relationship Type="http://schemas.openxmlformats.org/officeDocument/2006/relationships/notesMaster" Target="/ppt/notesMasters/notesMaster1.xml" Id="Ra3dd3307b0b844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834793c0aa48b0" /><Relationship Type="http://schemas.openxmlformats.org/officeDocument/2006/relationships/notesMaster" Target="/ppt/notesMasters/notesMaster1.xml" Id="R4e6507ac6c3f4d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3dd41bbdb3483f" /><Relationship Type="http://schemas.openxmlformats.org/officeDocument/2006/relationships/notesMaster" Target="/ppt/notesMasters/notesMaster1.xml" Id="R7c9beb84de814b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f5feb0442c4ae3" /><Relationship Type="http://schemas.openxmlformats.org/officeDocument/2006/relationships/notesMaster" Target="/ppt/notesMasters/notesMaster1.xml" Id="R6215164078cb43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8b4173d713402a" /><Relationship Type="http://schemas.openxmlformats.org/officeDocument/2006/relationships/notesMaster" Target="/ppt/notesMasters/notesMaster1.xml" Id="Rd8b16c916b4641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a6c22e835c4d4d" /><Relationship Type="http://schemas.openxmlformats.org/officeDocument/2006/relationships/notesMaster" Target="/ppt/notesMasters/notesMaster1.xml" Id="R57a9fdb1cbbf45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44b10d22614bbb" /><Relationship Type="http://schemas.openxmlformats.org/officeDocument/2006/relationships/notesMaster" Target="/ppt/notesMasters/notesMaster1.xml" Id="R12af3d4b70b644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d84e160f7842fa" /><Relationship Type="http://schemas.openxmlformats.org/officeDocument/2006/relationships/notesMaster" Target="/ppt/notesMasters/notesMaster1.xml" Id="R7eebe50b38c941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076e965bc94462" /><Relationship Type="http://schemas.openxmlformats.org/officeDocument/2006/relationships/notesMaster" Target="/ppt/notesMasters/notesMaster1.xml" Id="R10ed2231bd7740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0765b8eba44d76" /><Relationship Type="http://schemas.openxmlformats.org/officeDocument/2006/relationships/notesMaster" Target="/ppt/notesMasters/notesMaster1.xml" Id="R1e4d71a853984a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2a0102936d498d" /><Relationship Type="http://schemas.openxmlformats.org/officeDocument/2006/relationships/notesMaster" Target="/ppt/notesMasters/notesMaster1.xml" Id="R81f0f9c05eb04c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be231c04c048f6" /><Relationship Type="http://schemas.openxmlformats.org/officeDocument/2006/relationships/notesMaster" Target="/ppt/notesMasters/notesMaster1.xml" Id="R3ff8844fd7fd44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  <a:p xmlns:a="http://schemas.openxmlformats.org/drawingml/2006/main">
            <a:r>
              <a:t>情景数字为假设，不构成预测。变化率以同一基期为参照。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d88195fe94c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08d839313f4a29" /><Relationship Type="http://schemas.openxmlformats.org/officeDocument/2006/relationships/slideLayout" Target="/ppt/slideLayouts/slideLayout1.xml" Id="R737d0be7467c4a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7d0be7467c4a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oto Sans SC">
      <a:majorFont>
        <a:latin typeface="Noto Sans SC"/>
        <a:ea typeface="Noto Sans SC"/>
        <a:cs typeface="Noto Sans SC"/>
      </a:majorFont>
      <a:minorFont>
        <a:latin typeface="Noto Sans SC"/>
        <a:ea typeface="Noto Sans SC"/>
        <a:cs typeface="Noto Sans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15d50a2704585" /><Relationship Type="http://schemas.openxmlformats.org/officeDocument/2006/relationships/image" Target="/ppt/media/image.png" Id="R3efe44dd777a42b7" /><Relationship Type="http://schemas.openxmlformats.org/officeDocument/2006/relationships/notesSlide" Target="/ppt/notesSlides/notesSlide1.xml" Id="R93efee3e3c4a4e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38507e9a248f1" /><Relationship Type="http://schemas.openxmlformats.org/officeDocument/2006/relationships/notesSlide" Target="/ppt/notesSlides/notesSlide2.xml" Id="Rf7aad8b5b74d4f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50e0916cf43fb" /><Relationship Type="http://schemas.openxmlformats.org/officeDocument/2006/relationships/notesSlide" Target="/ppt/notesSlides/notesSlide3.xml" Id="R0fd91f4542c44a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e51f3e3f8476d" /><Relationship Type="http://schemas.openxmlformats.org/officeDocument/2006/relationships/chart" Target="/ppt/slides/charts/chart1.xml" Id="R3ba60885bfeb4dfe" /><Relationship Type="http://schemas.openxmlformats.org/officeDocument/2006/relationships/notesSlide" Target="/ppt/notesSlides/notesSlide4.xml" Id="Rb49940ee19724b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36b248ac046ce" /><Relationship Type="http://schemas.openxmlformats.org/officeDocument/2006/relationships/chart" Target="/ppt/slides/charts/chart2.xml" Id="R43b3abaab3344d0e" /><Relationship Type="http://schemas.openxmlformats.org/officeDocument/2006/relationships/notesSlide" Target="/ppt/notesSlides/notesSlide5.xml" Id="R8c507bea4eec47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58344207f45bc" /><Relationship Type="http://schemas.openxmlformats.org/officeDocument/2006/relationships/chart" Target="/ppt/slides/charts/chart3.xml" Id="R4b1c638e77d24c53" /><Relationship Type="http://schemas.openxmlformats.org/officeDocument/2006/relationships/notesSlide" Target="/ppt/notesSlides/notesSlide6.xml" Id="R593f5c3f7cab4e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7a3de158b4a68" /><Relationship Type="http://schemas.openxmlformats.org/officeDocument/2006/relationships/image" Target="/ppt/media/image2.png" Id="Rc9ae52ee15084cd9" /><Relationship Type="http://schemas.openxmlformats.org/officeDocument/2006/relationships/notesSlide" Target="/ppt/notesSlides/notesSlide7.xml" Id="R11a91b32426f4a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53e6865eb4642" /><Relationship Type="http://schemas.openxmlformats.org/officeDocument/2006/relationships/notesSlide" Target="/ppt/notesSlides/notesSlide8.xml" Id="Ra351222d14524e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50c1f163d4030" /><Relationship Type="http://schemas.openxmlformats.org/officeDocument/2006/relationships/notesSlide" Target="/ppt/notesSlides/notesSlide9.xml" Id="R3514bf36037c4b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33f1def06402b" /><Relationship Type="http://schemas.openxmlformats.org/officeDocument/2006/relationships/notesSlide" Target="/ppt/notesSlides/notesSlide10.xml" Id="R933e1f07cd8540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7eedc3dbc4029" /><Relationship Type="http://schemas.openxmlformats.org/officeDocument/2006/relationships/notesSlide" Target="/ppt/notesSlides/notesSlide11.xml" Id="R00dd46b275424c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d45d661eb44ec" /><Relationship Type="http://schemas.openxmlformats.org/officeDocument/2006/relationships/notesSlide" Target="/ppt/notesSlides/notesSlide12.xml" Id="Rb00a0dfaab5b42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dd7214fb444d3" /><Relationship Type="http://schemas.openxmlformats.org/officeDocument/2006/relationships/notesSlide" Target="/ppt/notesSlides/notesSlide13.xml" Id="R377d39cbb3054f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54e775f844c7a" /><Relationship Type="http://schemas.openxmlformats.org/officeDocument/2006/relationships/notesSlide" Target="/ppt/notesSlides/notesSlide14.xml" Id="Rd0690f8a38f24db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体验型消费</c:v>
          </c:tx>
          <c:spPr>
            <a:ln xmlns:a="http://schemas.openxmlformats.org/drawingml/2006/main" w="28575">
              <a:solidFill>
                <a:srgbClr val="AB5438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100</c:v>
                </c:pt>
                <c:pt idx="1">
                  <c:v>108</c:v>
                </c:pt>
                <c:pt idx="2">
                  <c:v>119</c:v>
                </c:pt>
                <c:pt idx="3">
                  <c:v>132</c:v>
                </c:pt>
              </c:numCache>
            </c:numRef>
          </c:val>
          <c:smooth val="0"/>
        </c:ser>
        <c:ser>
          <c:idx val="1"/>
          <c:order val="1"/>
          <c:tx>
            <c:v>便利型消费</c:v>
          </c:tx>
          <c:spPr>
            <a:ln xmlns:a="http://schemas.openxmlformats.org/drawingml/2006/main" w="28575">
              <a:solidFill>
                <a:srgbClr val="547A66"/>
              </a:solidFill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100</c:v>
                </c:pt>
                <c:pt idx="1">
                  <c:v>104</c:v>
                </c:pt>
                <c:pt idx="2">
                  <c:v>107</c:v>
                </c:pt>
                <c:pt idx="3">
                  <c:v>111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302E29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0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0C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D0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756D60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选择比例</c:v>
          </c:tx>
          <c:spPr>
            <a:solidFill xmlns:a="http://schemas.openxmlformats.org/drawingml/2006/main">
              <a:srgbClr val="AB5438"/>
            </a:solidFill>
          </c:spPr>
          <c:cat>
            <c:strRef>
              <c:f>'Chart Data'!$A$2:$A$6</c:f>
              <c:strCache>
                <c:ptCount val="5"/>
                <c:pt idx="0">
                  <c:v>交通便利</c:v>
                </c:pt>
                <c:pt idx="1">
                  <c:v>产品品质</c:v>
                </c:pt>
                <c:pt idx="2">
                  <c:v>空间舒适</c:v>
                </c:pt>
                <c:pt idx="3">
                  <c:v>价格适中</c:v>
                </c:pt>
                <c:pt idx="4">
                  <c:v>活动丰富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0.72</c:v>
                </c:pt>
                <c:pt idx="1">
                  <c:v>0.68</c:v>
                </c:pt>
                <c:pt idx="2">
                  <c:v>0.57</c:v>
                </c:pt>
                <c:pt idx="3">
                  <c:v>0.49</c:v>
                </c:pt>
                <c:pt idx="4">
                  <c:v>0.36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302E29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0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0C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9D0C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样本占比</c:v>
          </c:tx>
          <c:dPt>
            <c:idx val="0"/>
            <c:spPr>
              <a:solidFill xmlns:a="http://schemas.openxmlformats.org/drawingml/2006/main">
                <a:srgbClr val="AB5438"/>
              </a:solidFill>
            </c:spPr>
          </c:dPt>
          <c:dPt>
            <c:idx val="1"/>
            <c:spPr>
              <a:solidFill xmlns:a="http://schemas.openxmlformats.org/drawingml/2006/main">
                <a:srgbClr val="547A66"/>
              </a:solidFill>
            </c:spPr>
          </c:dPt>
          <c:dPt>
            <c:idx val="2"/>
            <c:spPr>
              <a:solidFill xmlns:a="http://schemas.openxmlformats.org/drawingml/2006/main">
                <a:srgbClr val="D3B28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附近居民</c:v>
                </c:pt>
                <c:pt idx="1">
                  <c:v>周边办公</c:v>
                </c:pt>
                <c:pt idx="2">
                  <c:v>目的地到访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302E29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67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756D60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e44dd777a42b7"/>
          <a:srcRect xmlns:a="http://schemas.openxmlformats.org/drawingml/2006/main" l="21000" t="0" r="21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4450" y="0"/>
            <a:ext cx="70675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86C2C-A394-4614-BDD1-83BC23DE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76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5E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04EAF-F256-4B7C-A5F9-204447D6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B543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AB5438"/>
                </a:solidFill>
                <a:latin typeface="Noto Sans SC"/>
                <a:ea typeface="Noto Sans SC"/>
                <a:cs typeface="Noto Sans SC"/>
              </a:rPr>
              <a:t>视野   PERSPECTIVES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6D0DD-8CF3-41EB-BC5B-6C2936BA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45529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420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城市商业</a:t>
            </a:r>
          </a:p>
          <a:p xmlns:a="http://schemas.openxmlformats.org/drawingml/2006/main">
            <a:pPr algn="l">
              <a:defRPr sz="420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420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与消费体验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11684-D088-4D3A-9C4F-2D97785B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43375"/>
            <a:ext cx="4219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专题研究与行动建议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4A88A-D5B4-4229-BA01-A026097F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219700"/>
            <a:ext cx="42195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B543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B5438"/>
                </a:solidFill>
                <a:latin typeface="Noto Sans SC"/>
                <a:ea typeface="Noto Sans SC"/>
                <a:cs typeface="Noto Sans SC"/>
              </a:rPr>
              <a:t>市场研究团队</a:t>
            </a:r>
          </a:p>
          <a:p xmlns:a="http://schemas.openxmlformats.org/drawingml/2006/main">
            <a:pPr algn="l">
              <a:defRPr sz="1650" b="0">
                <a:solidFill>
                  <a:srgbClr val="AB543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B5438"/>
                </a:solidFill>
                <a:latin typeface="Noto Sans SC"/>
                <a:ea typeface="Noto Sans SC"/>
                <a:cs typeface="Noto Sans SC"/>
              </a:rPr>
              <a:t>2026 年度报告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485AA-5C92-45C7-B82E-736F7369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53175"/>
            <a:ext cx="449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工作报告模板 · 全篇为示例资料</a:t>
            </a:r>
          </a:p>
        </p:txBody>
      </p:sp>
    </p:spTree>
    <p:extLst>
      <p:ext uri="{BB962C8B-B14F-4D97-AF65-F5344CB8AC3E}">
        <p14:creationId xmlns:p14="http://schemas.microsoft.com/office/powerpoint/2010/main" val="11617321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149E3-B964-4EEA-AFB0-301D83AE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视野 · 内容报告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6B6F3-D510-408B-B5B3-872D76FF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08E09-E2EB-4CE4-A6E8-CBDDC187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E6169-07C1-45E0-9200-C84BAF6C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1A4E9-7CEE-4291-B770-A9631ADD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研究问题与报告结构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09FD1-12FF-4A32-AC10-2DE2A179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围绕具体业务问题组织证据，最后形成可执行的建议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41E17-4EB8-478A-A5B3-0354B049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B5438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AB5438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19D12-AAC8-4322-84D3-712093C2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43150"/>
            <a:ext cx="450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变化发生在哪里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E7E64-A12F-4584-8F59-09351971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47975"/>
            <a:ext cx="4505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需求趋势与市场结构</a:t>
            </a:r>
          </a:p>
          <a:p xmlns:a="http://schemas.openxmlformats.org/drawingml/2006/main">
            <a:pPr algn="l">
              <a:def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第 4 至 6 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60E91-24AD-49BC-9BA2-81E85FA8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4315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B5438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AB543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E7F78-0B84-4704-9973-F4AD5EA2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43150"/>
            <a:ext cx="4295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用户如何做出选择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DE970-AC1F-4CA8-9D79-3FADA83F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47975"/>
            <a:ext cx="42957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场景观察与消费偏好</a:t>
            </a:r>
          </a:p>
          <a:p xmlns:a="http://schemas.openxmlformats.org/drawingml/2006/main">
            <a:pPr algn="l">
              <a:def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第 7 至 8 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5C5FA-AFCB-4728-AB34-4286ADC0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D27F2-ADEB-47B9-97AF-25CD775E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B5438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AB543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87CD6-0207-4510-ABC1-D7EE7164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48175"/>
            <a:ext cx="450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机会应当如何评估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5407BD-0707-4F61-9C10-EBB11A2E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4505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竞争比较与情景分析</a:t>
            </a:r>
          </a:p>
          <a:p xmlns:a="http://schemas.openxmlformats.org/drawingml/2006/main">
            <a:pPr algn="l">
              <a:def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第 9 至 11 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970EA-3BB9-4CF0-87A2-C757B608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44817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B5438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AB5438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70C02-D2B7-4A22-85C7-B5511806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48175"/>
            <a:ext cx="4295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接下来推进什么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6B71B-5747-4BD7-8AFF-BE1320FE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53000"/>
            <a:ext cx="42957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行动计划与研究边界</a:t>
            </a:r>
          </a:p>
          <a:p xmlns:a="http://schemas.openxmlformats.org/drawingml/2006/main">
            <a:pPr algn="l">
              <a:def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第 12 至 14 页</a:t>
            </a:r>
          </a:p>
        </p:txBody>
      </p:sp>
    </p:spTree>
    <p:extLst>
      <p:ext uri="{BB962C8B-B14F-4D97-AF65-F5344CB8AC3E}">
        <p14:creationId xmlns:p14="http://schemas.microsoft.com/office/powerpoint/2010/main" val="404367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302E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3356E-896E-4CA4-8F9E-DBE5C234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6E4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C9D6E4"/>
                </a:solidFill>
                <a:latin typeface="Noto Sans SC"/>
                <a:ea typeface="Noto Sans SC"/>
                <a:cs typeface="Noto Sans SC"/>
              </a:rPr>
              <a:t>视野 · 内容报告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B3C10-E441-44D7-BBE2-FCE8F0E7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C9D6E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C9D6E4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23D26-824E-463A-BAAA-7C36BE77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1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31507-724D-43AE-BA46-607A9B04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E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C9D6E4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3ABEF-6D62-46C8-A2AF-ACE55CF0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消费者重视体验，也在衡量时间成本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80C6E-CBB7-4879-B83B-76DB7414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rPr>
              <a:t>以下判断来自虚构研究场景，用于演示报告的论证方式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72111-E5C1-42CC-8605-FE2DE792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57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便利性与体验质量，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8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需要在同一场景中成立。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7EB47-8C26-4846-9C53-EC4146AA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7C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9B8E6-3062-472F-AB10-8E6BA26E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2314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9BBA1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E9BBA1"/>
                </a:solidFill>
                <a:latin typeface="Noto Sans SC"/>
                <a:ea typeface="Noto Sans SC"/>
                <a:cs typeface="Noto Sans SC"/>
              </a:rPr>
              <a:t>研究启示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9F28B-D806-43A1-A5F5-65422CCF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714875"/>
            <a:ext cx="83915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8DFD0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E8DFD0"/>
                </a:solidFill>
                <a:latin typeface="Noto Sans SC"/>
                <a:ea typeface="Noto Sans SC"/>
                <a:cs typeface="Noto Sans SC"/>
              </a:rPr>
              <a:t>门店改造应同时考虑到达、停留、服务与再次到访，</a:t>
            </a:r>
          </a:p>
          <a:p xmlns:a="http://schemas.openxmlformats.org/drawingml/2006/main">
            <a:pPr algn="l">
              <a:defRPr sz="1950" b="0">
                <a:solidFill>
                  <a:srgbClr val="E8DFD0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E8DFD0"/>
                </a:solidFill>
                <a:latin typeface="Noto Sans SC"/>
                <a:ea typeface="Noto Sans SC"/>
                <a:cs typeface="Noto Sans SC"/>
              </a:rPr>
              <a:t>并在试点中检验对用户行为的实际影响。</a:t>
            </a:r>
          </a:p>
        </p:txBody>
      </p:sp>
    </p:spTree>
    <p:extLst>
      <p:ext uri="{BB962C8B-B14F-4D97-AF65-F5344CB8AC3E}">
        <p14:creationId xmlns:p14="http://schemas.microsoft.com/office/powerpoint/2010/main" val="790662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B5764-BCC5-4B8B-A199-9E8F048E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视野 · 内容报告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3FE7A-F88B-41AC-A592-9BE348F1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1245E-F289-4887-BB0D-319C00A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FEF43-2ADA-476D-B1E8-AE011895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07796-7F3F-4AB2-A3DC-6C48631E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体验型消费的关注度逐季提高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9A970-BFB5-4ECD-AC4B-D0382089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关注度指数，第一季度 = 100；以趋势图展示变化而非单点结论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2295525"/>
          <a:ext xmlns:a="http://schemas.openxmlformats.org/drawingml/2006/main" cx="7705725" cy="3562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a60885bfeb4df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86164-DE61-44BF-BD17-1D76C6B2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86025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AB5438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AB5438"/>
                </a:solidFill>
                <a:latin typeface="Noto Sans SC"/>
                <a:ea typeface="Noto Sans SC"/>
                <a:cs typeface="Noto Sans SC"/>
              </a:rPr>
              <a:t>+32%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4DF60-E276-4B3B-9992-782CD647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371850"/>
            <a:ext cx="26860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体验型消费关注度变化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E7ACB-4AFD-4FEB-BB2D-0FE2D7F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324350"/>
            <a:ext cx="2714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数据用于展示趋势分析版式。</a:t>
            </a:r>
          </a:p>
          <a:p xmlns:a="http://schemas.openxmlformats.org/drawingml/2006/main">
            <a:pPr algn="l">
              <a:defRPr sz="16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实际结论需要结合样本、</a:t>
            </a:r>
          </a:p>
          <a:p xmlns:a="http://schemas.openxmlformats.org/drawingml/2006/main">
            <a:pPr algn="l">
              <a:defRPr sz="16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季节性和渠道变化解释。</a:t>
            </a:r>
          </a:p>
        </p:txBody>
      </p:sp>
    </p:spTree>
    <p:extLst>
      <p:ext uri="{BB962C8B-B14F-4D97-AF65-F5344CB8AC3E}">
        <p14:creationId xmlns:p14="http://schemas.microsoft.com/office/powerpoint/2010/main" val="603090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F0C97-4213-4457-8BA9-8BB72B20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视野 · 内容报告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17F10-6476-409D-95E5-687F506F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E966B-260D-4874-AC6A-6FFDF7C7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3DB24-B937-47A2-A7C5-B8151BCA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67061-4454-496F-BF91-5356F31C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便利性与产品品质是主要选择因素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F3128-5CA7-478B-8858-33E51CBA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示例问卷：选择某因素的受访者占比；可多选，不相加为 100%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2228850"/>
          <a:ext xmlns:a="http://schemas.openxmlformats.org/drawingml/2006/main" cx="7581900" cy="3657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b3abaab3344d0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FD8E8-66F9-4571-A001-895C9EE7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270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AB5438"/>
                </a:solidFill>
                <a:latin typeface="Noto Sans SC"/>
                <a:ea typeface="Noto Sans SC"/>
                <a:cs typeface="Noto Sans SC"/>
              </a:defRPr>
            </a:pPr>
            <a:r>
              <a:rPr sz="4500" b="1">
                <a:solidFill>
                  <a:srgbClr val="AB5438"/>
                </a:solidFill>
                <a:latin typeface="Noto Sans SC"/>
                <a:ea typeface="Noto Sans SC"/>
                <a:cs typeface="Noto Sans SC"/>
              </a:rPr>
              <a:t>600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41A94-D84B-41F1-B4F5-56175214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71850"/>
            <a:ext cx="268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份有效问卷（示例）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2F6F7-9B49-4A8E-B5D4-41FFA217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9575"/>
            <a:ext cx="27051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关注高频需求，</a:t>
            </a:r>
          </a:p>
          <a:p xmlns:a="http://schemas.openxmlformats.org/drawingml/2006/main">
            <a:pPr algn="l">
              <a:def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同时比较不同客群的差异。</a:t>
            </a:r>
          </a:p>
          <a:p xmlns:a="http://schemas.openxmlformats.org/drawingml/2006/main">
            <a:pPr algn="l">
              <a:def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单一总体比例不足以</a:t>
            </a:r>
          </a:p>
          <a:p xmlns:a="http://schemas.openxmlformats.org/drawingml/2006/main">
            <a:pPr algn="l">
              <a:def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决定所有门店的投入。</a:t>
            </a:r>
          </a:p>
        </p:txBody>
      </p:sp>
    </p:spTree>
    <p:extLst>
      <p:ext uri="{BB962C8B-B14F-4D97-AF65-F5344CB8AC3E}">
        <p14:creationId xmlns:p14="http://schemas.microsoft.com/office/powerpoint/2010/main" val="1346933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90CCD-BDF7-433D-83D5-E671EBEC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视野 · 内容报告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4C033-F6DA-4574-8379-EEA76B98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D1B5D-9CEC-4BA8-96B7-1A4523CD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E920B-3204-4D2A-ACBC-B08274C6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5C6C3-E989-4D6D-9AB0-7C03D27C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客群结构决定服务组合与营业节奏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23B57-59C9-404E-BA6A-2685A357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样本按主要到访目的分组；比例合计为 100%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4800600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1c638e77d24c53"/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5810250" y="2466975"/>
          <a:ext xmlns:a="http://schemas.openxmlformats.org/drawingml/2006/main" cx="577215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7249"/>
                <a:gridCol w="896645"/>
                <a:gridCol w="3138256"/>
              </a:tblGrid>
              <a:tr h="70246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客群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占比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主要需求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附近居民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45%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便利、稳定与社区服务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周边办公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35%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效率、午间消费与会面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目的地到访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20%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特色体验与社交活动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686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53E22-6CFB-4865-8D14-3E3CDFDE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视野 · 内容报告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64CE5-6503-452A-AE0F-2941A055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EAD77-8777-47D2-99C6-149FEF04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81B88-2C18-4555-9019-C1BFC682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9C61F-608B-420E-AD41-5FE54B92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社区复合空间：停留体验与日常需求结合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B0E79-E6BD-4000-ACC1-3A52931F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案例为虚构示例；配图为 AI 生成的商业空间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e52ee15084cd9"/>
          <a:srcRect xmlns:a="http://schemas.openxmlformats.org/drawingml/2006/main" l="0" t="464" r="0" b="4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257425"/>
            <a:ext cx="628650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2990F-5891-4935-97FA-4D5A5A01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05050"/>
            <a:ext cx="414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B5438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AB5438"/>
                </a:solidFill>
                <a:latin typeface="Noto Sans SC"/>
                <a:ea typeface="Noto Sans SC"/>
                <a:cs typeface="Noto Sans SC"/>
              </a:rPr>
              <a:t>观察对象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A29A3-910B-4428-9FAB-AA3039A0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62250"/>
            <a:ext cx="41433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咖啡、阅读与短时办公</a:t>
            </a:r>
          </a:p>
          <a:p xmlns:a="http://schemas.openxmlformats.org/drawingml/2006/main">
            <a:pPr algn="l">
              <a:defRPr sz="22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共用一个连续空间。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1DC22-A9DB-4076-A8D0-C921DD38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2435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B5438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AB5438"/>
                </a:solidFill>
                <a:latin typeface="Noto Sans SC"/>
                <a:ea typeface="Noto Sans SC"/>
                <a:cs typeface="Noto Sans SC"/>
              </a:rPr>
              <a:t>业务启示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DAC59-D513-4860-9AB6-C4830DD2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91075"/>
            <a:ext cx="4143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分别衡量高峰吞吐量与</a:t>
            </a:r>
          </a:p>
          <a:p xmlns:a="http://schemas.openxmlformats.org/drawingml/2006/main">
            <a:pPr algn="l">
              <a:def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非高峰停留价值，避免</a:t>
            </a:r>
          </a:p>
          <a:p xmlns:a="http://schemas.openxmlformats.org/drawingml/2006/main">
            <a:pPr algn="l">
              <a:def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只用单一客流指标评估。</a:t>
            </a:r>
          </a:p>
        </p:txBody>
      </p:sp>
    </p:spTree>
    <p:extLst>
      <p:ext uri="{BB962C8B-B14F-4D97-AF65-F5344CB8AC3E}">
        <p14:creationId xmlns:p14="http://schemas.microsoft.com/office/powerpoint/2010/main" val="9165532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B0B0C-115C-44A8-9CB0-214C1B0D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视野 · 内容报告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7B681-6941-4CCA-AE03-DB3DDA20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D1AD8-136C-426A-9038-B1CDBBD2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83E65-2F46-4341-BA6F-DED98E75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182B7-6F86-4387-A293-8A6867FD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到访体验中的关键时刻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7A9D5-DB3F-4F0C-B4B0-23A8CF22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把用户行为与业务触点放在同一张表中检查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109728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88168"/>
                <a:gridCol w="3609474"/>
                <a:gridCol w="3465095"/>
                <a:gridCol w="2310063"/>
              </a:tblGrid>
              <a:tr h="68199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阶段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用户关心什么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主要触点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可观察指标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到访前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是否值得专程前往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地图、社交内容、推荐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搜索到访转化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到达时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是否方便找到与进入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交通、入口、导视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到达时间与放弃率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停留中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产品与空间是否符合期待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产品、服务、座位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满意度与停留时长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离开后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是否有再次到访理由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会员、活动与反馈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复访率与投诉处理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7206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2A57D-BBE1-4E91-B78D-1E6C3C1C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视野 · 内容报告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F275A-1B54-4578-9F20-3C73634F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25B9F-7CA9-4404-9E38-3F983241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2A154-B970-4859-8921-4D90CD37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644C3-BD3F-4578-8C93-0D7D2A49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不同经营模式的优势与约束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71F2A-7907-4C57-BE99-A8491AE7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示例比较框架；实际应用时为每项判断补充证据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76926"/>
                <a:gridCol w="2887579"/>
                <a:gridCol w="3465095"/>
                <a:gridCol w="2743200"/>
              </a:tblGrid>
              <a:tr h="587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比较维度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社区型空间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目的地商业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线上渠道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主要价值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便利与日常关系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集中体验与多元选择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广泛选择与购买效率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到访成本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较低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较高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无需线下到访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体验特点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熟悉、稳定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丰富、可探索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依赖内容与履约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经营重点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复访与坪效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吸引力与停留价值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转化与履约质量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主要约束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覆盖半径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建设与运营投入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线下体验不足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2134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02E7B-090F-4650-9635-DD1DC022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视野 · 内容报告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7974E-5681-4C33-A302-17AB22B6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40256-3CE3-47D6-BD97-A4D78074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CF31E-66B1-477D-8403-960F96A3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CA33E-EB3C-4CA9-9DC1-A31E438F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按照用户价值与实施难度安排投入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308EA-84AC-4CDD-82C0-C5563EE4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先推进证据充分、依赖较少的改善，再验证较大投入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295525"/>
          <a:ext xmlns:a="http://schemas.openxmlformats.org/drawingml/2006/main" cx="10972800" cy="2943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4389120"/>
                <a:gridCol w="4389120"/>
              </a:tblGrid>
              <a:tr h="981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实施难度较低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实施难度较高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用户价值较高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优先推进</a:t>
                      </a:r>
                    </a:p>
                    <a:p>
                      <a:r>
                        <a:rPr sz="172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入口导视、排队体验、会员反馈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小范围验证</a:t>
                      </a:r>
                    </a:p>
                    <a:p>
                      <a:r>
                        <a:rPr sz="172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空间改造、跨业态服务组合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用户价值待验证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低成本尝试</a:t>
                      </a:r>
                    </a:p>
                    <a:p>
                      <a:r>
                        <a:rPr sz="172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主题活动、服务时间微调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暂缓投入</a:t>
                      </a:r>
                    </a:p>
                    <a:p>
                      <a:r>
                        <a:rPr sz="172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重资产扩张与未验证新场景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A6865-412A-4B65-A77C-C09E3847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67375"/>
            <a:ext cx="1080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每项机会应附上负责人、投入估算和验证指标。</a:t>
            </a:r>
          </a:p>
        </p:txBody>
      </p:sp>
    </p:spTree>
    <p:extLst>
      <p:ext uri="{BB962C8B-B14F-4D97-AF65-F5344CB8AC3E}">
        <p14:creationId xmlns:p14="http://schemas.microsoft.com/office/powerpoint/2010/main" val="16791905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D5EFE-6DDA-4E07-A98D-B41FA17F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视野 · 内容报告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25002-1499-4E97-849D-F4526B6A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DB6BD-5DF6-4710-9986-B408DC58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23B52-264B-4A2C-B906-E3F22BD3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CEE49-E8EC-4F3E-B954-F3FFD231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不同需求情景下，保持投入的可调整性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2CA27-E1BB-4EF5-AF93-080B050B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以中性情景制定计划，同时约定扩张与收缩的触发条件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10063"/>
                <a:gridCol w="2887579"/>
                <a:gridCol w="2887579"/>
                <a:gridCol w="2887579"/>
              </a:tblGrid>
              <a:tr h="587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维度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谨慎情景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中性情景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积极情景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客流变化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−5%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+5%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+15%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单客收入变化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0%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+3%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+5%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经营动作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优化成本与现有服务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推进已验证的试点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扩大成熟服务覆盖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预算节奏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保留必要维护投入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按里程碑释放预算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通过复核后增加投入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检查周期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每月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每季度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每月关注容量约束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20943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33AA5-A16A-4F15-8E71-9225CCCD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视野 · 内容报告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7D964-3EA2-4E04-9063-F77D48A2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B49EF-90D2-4031-B90A-A026281E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786F2-20F5-44AF-8B39-10052F33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F1055-BCBA-4E23-9743-E8FFF469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未来 90 天的研究与试点计划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97E83-DA1D-4F1B-8B1D-E214D68D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按阶段形成可检查的产出，减少一次性投入的不确定性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109728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3495"/>
                <a:gridCol w="2959768"/>
                <a:gridCol w="2959768"/>
                <a:gridCol w="2959768"/>
              </a:tblGrid>
              <a:tr h="6534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阶段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 1–30 天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 31–60 天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 61–90 天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重点工作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补充访谈与数据核验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开展两类场景试点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比较结果并形成决策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交付成果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客群画像与问题清单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试点记录与反馈材料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推广或调整建议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参与团队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研究、运营、数据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运营、产品、门店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经营管理与试点团队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5341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验收节点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问题与指标口径确认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过程质量与样本核验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业务效果与投入复核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837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302E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6C4AE-FDB6-4699-868B-81FFD5F0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6E4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C9D6E4"/>
                </a:solidFill>
                <a:latin typeface="Noto Sans SC"/>
                <a:ea typeface="Noto Sans SC"/>
                <a:cs typeface="Noto Sans SC"/>
              </a:rPr>
              <a:t>视野 · 内容报告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E4BCD-AA01-4A63-80AF-C235655D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C9D6E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C9D6E4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AE684-316B-4FE7-997C-BD799BBA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1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5ADE4-07C2-4497-A976-85D16753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E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C9D6E4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98B01-6521-4986-B9A2-83D7C8D1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以用户行为验证投入价值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D6031-2DFE-4D55-B92B-EA2386F5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rPr>
              <a:t>报告最终需要回答：采取什么行动，如何判断行动是否有效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9684E-BCAD-43EE-856A-E87805E4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C9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9FC9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04D6A-F971-4DFD-B978-A69E5094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33625"/>
            <a:ext cx="992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优先解决高频体验问题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506C7-BACE-40FC-B2CE-43954593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384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rPr>
              <a:t>从到达、等候与服务触点中识别可改进项。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E4033-11AD-43E5-8967-9857DC3D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7C6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E76D1-AA41-40B1-88B8-F26F632A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C9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9FC9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A4012-A647-4779-8AE1-A96AF6AB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让试点结果决定下一步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DBD0A-201F-4871-9A13-ECAE31B0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767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rPr>
              <a:t>在扩展前复核用户反馈、经营效果与实施成本。</a:t>
            </a:r>
          </a:p>
        </p:txBody>
      </p:sp>
    </p:spTree>
    <p:extLst>
      <p:ext uri="{BB962C8B-B14F-4D97-AF65-F5344CB8AC3E}">
        <p14:creationId xmlns:p14="http://schemas.microsoft.com/office/powerpoint/2010/main" val="1176928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B59D3-B79B-4844-B0F0-824CF6AD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视野 · 内容报告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47968-9AAC-4BAF-87AE-DC6EAC09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77923-4AB7-464D-9F0D-E9DCD67E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E0B36-5F7A-4302-9F8E-FFB3491C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42C8A-FD07-4F25-8A56-6B8B055D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302E29"/>
                </a:solidFill>
                <a:latin typeface="Noto Sans SC"/>
                <a:ea typeface="Noto Sans SC"/>
                <a:cs typeface="Noto Sans SC"/>
              </a:rPr>
              <a:t>附录：研究口径、资料与限制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B6DFB-93A6-45E5-A3A9-22FCBC10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756D60"/>
                </a:solidFill>
                <a:latin typeface="Noto Sans SC"/>
                <a:ea typeface="Noto Sans SC"/>
                <a:cs typeface="Noto Sans SC"/>
              </a:rPr>
              <a:t>报告中的每个关键结论，都应能回到原始记录与适用范围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276475"/>
          <a:ext xmlns:a="http://schemas.openxmlformats.org/drawingml/2006/main" cx="10972800" cy="3514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1314"/>
                <a:gridCol w="8621486"/>
              </a:tblGrid>
              <a:tr h="58578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项目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记录要求</a:t>
                      </a:r>
                    </a:p>
                  </a:txBody>
                  <a:tcPr marL="142875" marR="142875" marT="95250" marB="95250" anchor="ctr">
                    <a:solidFill>
                      <a:srgbClr val="302E29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研究对象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城市、区域、客群及纳入或排除的范围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时间范围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数据采集时间、统计截止日与对照时期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样本方法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问卷、访谈、观察的样本数量及抽样方式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资料来源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来源名称、链接或文件、访问日期与负责人</a:t>
                      </a:r>
                    </a:p>
                  </a:txBody>
                  <a:tcPr marL="142875" marR="142875" marT="95250" marB="95250" anchor="ctr">
                    <a:solidFill>
                      <a:srgbClr val="EEE5D6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适用边界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02E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样本偏差、缺失数据、未验证假设与替代解释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5798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oto Sans SC">
      <a:majorFont>
        <a:latin typeface="Noto Sans SC"/>
        <a:ea typeface="Noto Sans SC"/>
        <a:cs typeface="Noto Sans SC"/>
      </a:majorFont>
      <a:minorFont>
        <a:latin typeface="Noto Sans SC"/>
        <a:ea typeface="Noto Sans SC"/>
        <a:cs typeface="Noto Sans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2026-10-03T15:41:29.6520000Z</dcterms:created>
  <dcterms:modified xsi:type="dcterms:W3CDTF">2026-10-03T15:41:29.6520000Z</dcterms:modified>
</coreProperties>
</file>